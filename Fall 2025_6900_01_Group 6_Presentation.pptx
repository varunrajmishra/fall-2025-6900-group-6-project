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Montserrat Medium"/>
      <p:regular r:id="rId25"/>
      <p:bold r:id="rId26"/>
      <p:italic r:id="rId27"/>
      <p:boldItalic r:id="rId28"/>
    </p:embeddedFont>
    <p:embeddedFont>
      <p:font typeface="Open Sans SemiBold"/>
      <p:regular r:id="rId29"/>
      <p:bold r:id="rId30"/>
      <p:italic r:id="rId31"/>
      <p:boldItalic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8ED851-4CC8-423D-A94E-E4DAA39FE531}">
  <a:tblStyle styleId="{618ED851-4CC8-423D-A94E-E4DAA39FE53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Medium-bold.fntdata"/><Relationship Id="rId25" Type="http://schemas.openxmlformats.org/officeDocument/2006/relationships/font" Target="fonts/MontserratMedium-regular.fntdata"/><Relationship Id="rId28" Type="http://schemas.openxmlformats.org/officeDocument/2006/relationships/font" Target="fonts/MontserratMedium-boldItalic.fntdata"/><Relationship Id="rId27" Type="http://schemas.openxmlformats.org/officeDocument/2006/relationships/font" Target="fonts/Montserrat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SemiBold-italic.fntdata"/><Relationship Id="rId30" Type="http://schemas.openxmlformats.org/officeDocument/2006/relationships/font" Target="fonts/OpenSansSemiBold-bold.fntdata"/><Relationship Id="rId11" Type="http://schemas.openxmlformats.org/officeDocument/2006/relationships/slide" Target="slides/slide5.xml"/><Relationship Id="rId33" Type="http://schemas.openxmlformats.org/officeDocument/2006/relationships/font" Target="fonts/OpenSans-regular.fntdata"/><Relationship Id="rId10" Type="http://schemas.openxmlformats.org/officeDocument/2006/relationships/slide" Target="slides/slide4.xml"/><Relationship Id="rId32" Type="http://schemas.openxmlformats.org/officeDocument/2006/relationships/font" Target="fonts/OpenSansSemiBold-boldItalic.fntdata"/><Relationship Id="rId13" Type="http://schemas.openxmlformats.org/officeDocument/2006/relationships/slide" Target="slides/slide7.xml"/><Relationship Id="rId35" Type="http://schemas.openxmlformats.org/officeDocument/2006/relationships/font" Target="fonts/OpenSans-italic.fntdata"/><Relationship Id="rId12" Type="http://schemas.openxmlformats.org/officeDocument/2006/relationships/slide" Target="slides/slide6.xml"/><Relationship Id="rId34" Type="http://schemas.openxmlformats.org/officeDocument/2006/relationships/font" Target="fonts/OpenSans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11" Type="http://schemas.openxmlformats.org/officeDocument/2006/relationships/image" Target="../media/image24.png"/><Relationship Id="rId10" Type="http://schemas.openxmlformats.org/officeDocument/2006/relationships/image" Target="../media/image11.png"/><Relationship Id="rId9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25.jpg"/><Relationship Id="rId7" Type="http://schemas.openxmlformats.org/officeDocument/2006/relationships/image" Target="../media/image11.png"/><Relationship Id="rId8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16.png"/><Relationship Id="rId5" Type="http://schemas.openxmlformats.org/officeDocument/2006/relationships/image" Target="../media/image23.png"/><Relationship Id="rId6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Relationship Id="rId10" Type="http://schemas.openxmlformats.org/officeDocument/2006/relationships/image" Target="../media/image24.png"/><Relationship Id="rId9" Type="http://schemas.openxmlformats.org/officeDocument/2006/relationships/image" Target="../media/image11.png"/><Relationship Id="rId5" Type="http://schemas.openxmlformats.org/officeDocument/2006/relationships/image" Target="../media/image21.png"/><Relationship Id="rId6" Type="http://schemas.openxmlformats.org/officeDocument/2006/relationships/image" Target="../media/image30.png"/><Relationship Id="rId7" Type="http://schemas.openxmlformats.org/officeDocument/2006/relationships/image" Target="../media/image27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45.png"/><Relationship Id="rId7" Type="http://schemas.openxmlformats.org/officeDocument/2006/relationships/image" Target="../media/image11.png"/><Relationship Id="rId8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3.png"/><Relationship Id="rId4" Type="http://schemas.openxmlformats.org/officeDocument/2006/relationships/image" Target="../media/image36.png"/><Relationship Id="rId5" Type="http://schemas.openxmlformats.org/officeDocument/2006/relationships/image" Target="../media/image39.png"/><Relationship Id="rId6" Type="http://schemas.openxmlformats.org/officeDocument/2006/relationships/image" Target="../media/image11.png"/><Relationship Id="rId7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0.png"/><Relationship Id="rId4" Type="http://schemas.openxmlformats.org/officeDocument/2006/relationships/image" Target="../media/image11.png"/><Relationship Id="rId5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Relationship Id="rId4" Type="http://schemas.openxmlformats.org/officeDocument/2006/relationships/image" Target="../media/image37.png"/><Relationship Id="rId5" Type="http://schemas.openxmlformats.org/officeDocument/2006/relationships/image" Target="../media/image46.png"/><Relationship Id="rId6" Type="http://schemas.openxmlformats.org/officeDocument/2006/relationships/image" Target="../media/image11.png"/><Relationship Id="rId7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1.png"/><Relationship Id="rId4" Type="http://schemas.openxmlformats.org/officeDocument/2006/relationships/image" Target="../media/image54.png"/><Relationship Id="rId10" Type="http://schemas.openxmlformats.org/officeDocument/2006/relationships/image" Target="../media/image24.png"/><Relationship Id="rId9" Type="http://schemas.openxmlformats.org/officeDocument/2006/relationships/image" Target="../media/image11.png"/><Relationship Id="rId5" Type="http://schemas.openxmlformats.org/officeDocument/2006/relationships/image" Target="../media/image38.png"/><Relationship Id="rId6" Type="http://schemas.openxmlformats.org/officeDocument/2006/relationships/image" Target="../media/image42.png"/><Relationship Id="rId7" Type="http://schemas.openxmlformats.org/officeDocument/2006/relationships/image" Target="../media/image53.png"/><Relationship Id="rId8" Type="http://schemas.openxmlformats.org/officeDocument/2006/relationships/image" Target="../media/image4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Relationship Id="rId10" Type="http://schemas.openxmlformats.org/officeDocument/2006/relationships/image" Target="../media/image24.png"/><Relationship Id="rId9" Type="http://schemas.openxmlformats.org/officeDocument/2006/relationships/image" Target="../media/image11.png"/><Relationship Id="rId5" Type="http://schemas.openxmlformats.org/officeDocument/2006/relationships/image" Target="../media/image21.png"/><Relationship Id="rId6" Type="http://schemas.openxmlformats.org/officeDocument/2006/relationships/image" Target="../media/image49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image" Target="../media/image50.png"/><Relationship Id="rId6" Type="http://schemas.openxmlformats.org/officeDocument/2006/relationships/image" Target="../media/image55.png"/><Relationship Id="rId7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21875" l="0" r="0" t="21875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1006822"/>
            <a:ext cx="9525000" cy="484435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695450" y="1578322"/>
            <a:ext cx="8801100" cy="1462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Port Authority of NY &amp; NJ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Data Analytics Project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695450" y="3231802"/>
            <a:ext cx="88011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CC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Optimizing Facilities: Traffic, Violations &amp; Forecasting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905000" y="3889027"/>
            <a:ext cx="838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University of New Haven | Group 6 | Fall 2025</a:t>
            </a:r>
            <a:endParaRPr>
              <a:solidFill>
                <a:srgbClr val="F8FAFC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905000" y="4574827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Varun Raj Mishra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762500" y="4574827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Anugya Gautam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620000" y="4574827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Mathukutty Manoj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905000" y="4993927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Simran Masih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762500" y="4993927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Jacob Hoffman</a:t>
            </a:r>
            <a:endParaRPr/>
          </a:p>
        </p:txBody>
      </p:sp>
      <p:pic>
        <p:nvPicPr>
          <p:cNvPr id="94" name="Google Shape;94;p13" title="University_of_New_Haven_sea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54769" y="121306"/>
            <a:ext cx="716000" cy="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 title="new-york-city-port-authority-of-new-york-and-new-jersey-police-department-transport-creative-agency-6cc3bd3489bc071e80ddbfbd74a45cf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89794" y="28550"/>
            <a:ext cx="1807605" cy="10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52575"/>
            <a:ext cx="5334000" cy="473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552575"/>
            <a:ext cx="5334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Project Scope &amp; Challenge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1228725"/>
            <a:ext cx="11049000" cy="381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00125" y="2214562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The Challenge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00125" y="2919412"/>
            <a:ext cx="4524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Port Authority manages critical infrastructure including the Holland Tunnel, Lincoln Tunnel, and GWB. Post-Covid, understanding facility health is prioritized.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00125" y="4519612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Core Question: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How are traffic patterns and speeds affected by seasonality, weather, holidays, and the new 2025 pricing models?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715125" y="2366962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The Approach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715125" y="3071812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We utilized historical data (2013-2025) to build predictive models using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Azure AutoML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Python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715125" y="4367212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Objective: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Deliver actionable insights on congestion mitigation, toll revenue protection, and long-term capacity forecasting.</a:t>
            </a:r>
            <a:endParaRPr/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125" y="224313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15125" y="239553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title="University_of_New_Haven_sea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54769" y="121306"/>
            <a:ext cx="716000" cy="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title="new-york-city-port-authority-of-new-york-and-new-jersey-police-department-transport-creative-agency-6cc3bd3489bc071e80ddbfbd74a45cf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89794" y="28550"/>
            <a:ext cx="1807605" cy="10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Project Goals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1228725"/>
            <a:ext cx="11049000" cy="381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952500" y="292893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Usage Factors: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Identify top 5 drivers of traffic volume.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52500" y="342423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Toll Violators: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Analyze counts by time and facility.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52500" y="3919525"/>
            <a:ext cx="5016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Busiest Times: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Seasonality and holiday impact analysis</a:t>
            </a:r>
            <a:r>
              <a:rPr lang="en-US" sz="15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52500" y="441483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Congestion Pricing: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Report on 2025 impact.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667500" y="292893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Forecasting: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Predict facility usage through 2027.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667500" y="34242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Python Modeling: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Replicate AutoML best models in code.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667500" y="422433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Dashboarding: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Create interactive Power BI portfolio.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97180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6710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6240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57700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297180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3467100"/>
            <a:ext cx="1333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86500" y="426720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title="University_of_New_Haven_seal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254769" y="121306"/>
            <a:ext cx="716000" cy="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title="new-york-city-port-authority-of-new-york-and-new-jersey-police-department-transport-creative-agency-6cc3bd3489bc071e80ddbfbd74a45cfe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689794" y="28550"/>
            <a:ext cx="1807605" cy="10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Methodology: From Data to Insight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71500" y="1228725"/>
            <a:ext cx="11049000" cy="381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952500" y="2490787"/>
            <a:ext cx="5905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Data Sources: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Integrated Traffic volume, PABT Bus/Passenger logs, Mobility Speeds, and NOAA Weather data (Wind, Precip, Snow, Temp).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52500" y="3595687"/>
            <a:ext cx="5905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Azure AutoML: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Automated testing of algorithms (Voting Ensemble, Stack Ensemble) to find optimal hyperparameters.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952500" y="4395787"/>
            <a:ext cx="5905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Python Development: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Validated findings using </a:t>
            </a: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Random Forest Regressor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(Factors) and </a:t>
            </a: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Voting Ensembles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(XGBoost + LightGBM) for forecasting.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336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3855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386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gain" id="148" name="Google Shape;14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11875" y="1575775"/>
            <a:ext cx="48768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title="University_of_New_Haven_seal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254769" y="121306"/>
            <a:ext cx="716000" cy="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title="new-york-city-port-authority-of-new-york-and-new-jersey-police-department-transport-creative-agency-6cc3bd3489bc071e80ddbfbd74a45cf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689794" y="28550"/>
            <a:ext cx="1807605" cy="10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52575"/>
            <a:ext cx="11049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Goal 1: Top Factors Affecting Usage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1228725"/>
            <a:ext cx="11049000" cy="381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571500" y="4964459"/>
            <a:ext cx="11049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Analysis:</a:t>
            </a:r>
            <a:r>
              <a:rPr b="0" i="1" lang="en-US" sz="13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Weather variables (Temp + Precip) combined account for &gt;51% of predictive power. Usage is driven by diurnal patterns (Hour) but highly sensitive to environmental conditions.</a:t>
            </a:r>
            <a:endParaRPr/>
          </a:p>
        </p:txBody>
      </p:sp>
      <p:pic>
        <p:nvPicPr>
          <p:cNvPr id="159" name="Google Shape;159;p17" title="University_of_New_Haven_se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54769" y="121306"/>
            <a:ext cx="716000" cy="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title="new-york-city-port-authority-of-new-york-and-new-jersey-police-department-transport-creative-agency-6cc3bd3489bc071e80ddbfbd74a45cf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89794" y="28550"/>
            <a:ext cx="1807605" cy="10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/>
        </p:nvSpPr>
        <p:spPr>
          <a:xfrm>
            <a:off x="762000" y="762000"/>
            <a:ext cx="4800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Goal 2: Toll Violator Analysis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762000" y="1933575"/>
            <a:ext cx="4572000" cy="381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8" title="Violation by days.png"/>
          <p:cNvPicPr preferRelativeResize="0"/>
          <p:nvPr/>
        </p:nvPicPr>
        <p:blipFill rotWithShape="1">
          <a:blip r:embed="rId3">
            <a:alphaModFix/>
          </a:blip>
          <a:srcRect b="0" l="406" r="406" t="0"/>
          <a:stretch/>
        </p:blipFill>
        <p:spPr>
          <a:xfrm>
            <a:off x="6096000" y="209550"/>
            <a:ext cx="5799775" cy="652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1143000" y="2443162"/>
            <a:ext cx="4191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Temporal Patterns: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Violation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rates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spike during off-peak overnight hours (11:00 PM – 4:00 AM), suggesting intentional evasion during low-traffic windows.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143000" y="3852862"/>
            <a:ext cx="4191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Facility Impact: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Cash-accepting lanes historically show higher variance than All-Electronic Tolling points.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143000" y="4957762"/>
            <a:ext cx="4191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Predictability: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Our model achieved an </a:t>
            </a: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$R^2$ Score of 0.87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, proving violations follow a predictable, non-random pattern.</a:t>
            </a:r>
            <a:endParaRPr/>
          </a:p>
        </p:txBody>
      </p:sp>
      <p:pic>
        <p:nvPicPr>
          <p:cNvPr descr="image.png" id="171" name="Google Shape;17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860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89572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00062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17589"/>
            <a:ext cx="3492549" cy="2603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617589"/>
            <a:ext cx="3492549" cy="2603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617589"/>
            <a:ext cx="3492549" cy="260389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Goal 3: Busiest Times &amp; Seasonality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571500" y="1228725"/>
            <a:ext cx="11049000" cy="381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857250" y="3608189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Peak Season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857250" y="3960614"/>
            <a:ext cx="2921049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Traffic volume consistently peaks in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June, July, and August</a:t>
            </a: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 This aligns with the high importance of the "Temperature" factor.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4635549" y="3608189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Winter Lull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4635549" y="3960614"/>
            <a:ext cx="29210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Lowest volumes occur in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January and February</a:t>
            </a: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 Snowfall events correlate with distinct, sharp drops in facility capacity.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413849" y="3608189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Weekly Cycle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8413849" y="3960614"/>
            <a:ext cx="29210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Weekdays exhibit sharp AM/PM commuter peaks, while weekends show a smoother, midday distribution curve.</a:t>
            </a:r>
            <a:endParaRPr/>
          </a:p>
        </p:txBody>
      </p:sp>
      <p:pic>
        <p:nvPicPr>
          <p:cNvPr descr="image.png" id="189" name="Google Shape;18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3017639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5549" y="3017639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3849" y="3017639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title="University_of_New_Haven_seal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254769" y="121306"/>
            <a:ext cx="716000" cy="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title="new-york-city-port-authority-of-new-york-and-new-jersey-police-department-transport-creative-agency-6cc3bd3489bc071e80ddbfbd74a45cfe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689794" y="28550"/>
            <a:ext cx="1807605" cy="10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90787"/>
            <a:ext cx="11049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Goal 4: Impact of 2025 Pricing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71500" y="1228725"/>
            <a:ext cx="11049000" cy="381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7810500" y="2643187"/>
            <a:ext cx="381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Classification Accuracy: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92.31% (Voting Classifier).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7810500" y="3443287"/>
            <a:ext cx="381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Result: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The pricing policy reduced high-congestion incidents by </a:t>
            </a: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~9.6%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year-over-year.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7810500" y="4548187"/>
            <a:ext cx="381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Behavior Shift: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Traffic has smoothed, likely shifting to shoulder hours.</a:t>
            </a:r>
            <a:endParaRPr/>
          </a:p>
        </p:txBody>
      </p:sp>
      <p:pic>
        <p:nvPicPr>
          <p:cNvPr descr="image.png" id="204" name="Google Shape;20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0" y="26860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0" y="3486150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29500" y="45910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title="University_of_New_Haven_seal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254769" y="121306"/>
            <a:ext cx="716000" cy="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title="new-york-city-port-authority-of-new-york-and-new-jersey-police-department-transport-creative-agency-6cc3bd3489bc071e80ddbfbd74a45cf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689794" y="28550"/>
            <a:ext cx="1807605" cy="10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233487"/>
            <a:ext cx="11049000" cy="537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233987"/>
            <a:ext cx="542925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5233987"/>
            <a:ext cx="542925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571500" y="25241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Goal 5: Future Outlook (2026-2027)</a:t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571500" y="909637"/>
            <a:ext cx="11049000" cy="381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809625" y="561498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Methodology: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Recursive Voting Regressor (XGBoost + LightGBM)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6429375" y="561498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Performance: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Test RMSE of 12,137 (approx. 5% margin of error on weekly volumes).</a:t>
            </a:r>
            <a:endParaRPr/>
          </a:p>
        </p:txBody>
      </p:sp>
      <p:pic>
        <p:nvPicPr>
          <p:cNvPr id="220" name="Google Shape;220;p21" title="Forecast traffic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1042100"/>
            <a:ext cx="11048998" cy="41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title="University_of_New_Haven_sea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54769" y="121306"/>
            <a:ext cx="716000" cy="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title="new-york-city-port-authority-of-new-york-and-new-jersey-police-department-transport-creative-agency-6cc3bd3489bc071e80ddbfbd74a45cf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89794" y="28550"/>
            <a:ext cx="1807605" cy="10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52575"/>
            <a:ext cx="11049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Goal 6 &amp; 7: Python Model Architecture</a:t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571500" y="1228725"/>
            <a:ext cx="11049000" cy="381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0" name="Google Shape;230;p22"/>
          <p:cNvGraphicFramePr/>
          <p:nvPr/>
        </p:nvGraphicFramePr>
        <p:xfrm>
          <a:off x="571500" y="20640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{618ED851-4CC8-423D-A94E-E4DAA39FE531}</a:tableStyleId>
              </a:tblPr>
              <a:tblGrid>
                <a:gridCol w="2440475"/>
                <a:gridCol w="3266025"/>
                <a:gridCol w="3387475"/>
                <a:gridCol w="1955000"/>
              </a:tblGrid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Model Objective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Algorithm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Key 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Top 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Factor 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Random Forest Regressor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$R^2$: 0.10 (High Variance)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Hour of Day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Congestion Class.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Voting (XGB + LightGBM)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Accuracy: 92.31%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Speed Delta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Forecasting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Voting Regressor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RMSE: 12,137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Lag Features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Violations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Voting Ensemble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$R^2$: 0.878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Payment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31" name="Google Shape;231;p22"/>
          <p:cNvSpPr/>
          <p:nvPr/>
        </p:nvSpPr>
        <p:spPr>
          <a:xfrm>
            <a:off x="571500" y="3240434"/>
            <a:ext cx="24404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3011983" y="3240434"/>
            <a:ext cx="32660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6278016" y="3240434"/>
            <a:ext cx="33874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9665493" y="3240434"/>
            <a:ext cx="19550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571500" y="3840509"/>
            <a:ext cx="24404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3011983" y="3840509"/>
            <a:ext cx="32660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6278016" y="3840509"/>
            <a:ext cx="33874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9665493" y="3840509"/>
            <a:ext cx="19550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571500" y="4440584"/>
            <a:ext cx="24404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3011983" y="4440584"/>
            <a:ext cx="32660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6278016" y="4440584"/>
            <a:ext cx="33874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9665493" y="4440584"/>
            <a:ext cx="19550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571500" y="5040659"/>
            <a:ext cx="24404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3011983" y="5040659"/>
            <a:ext cx="32660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6278016" y="5040659"/>
            <a:ext cx="33874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9665493" y="5040659"/>
            <a:ext cx="19550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22" title="University_of_New_Haven_se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54769" y="121306"/>
            <a:ext cx="716000" cy="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 title="new-york-city-port-authority-of-new-york-and-new-jersey-police-department-transport-creative-agency-6cc3bd3489bc071e80ddbfbd74a45cf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89794" y="28550"/>
            <a:ext cx="1807605" cy="10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Power BI Analytics Dashboard</a:t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571500" y="1228725"/>
            <a:ext cx="11049000" cy="381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952500" y="2683550"/>
            <a:ext cx="4930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Embedded Data: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All datasets are embedded directly into the .pbix file for portability and security.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952500" y="3452812"/>
            <a:ext cx="5905500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Key Views:</a:t>
            </a:r>
            <a:endParaRPr/>
          </a:p>
        </p:txBody>
      </p:sp>
      <p:pic>
        <p:nvPicPr>
          <p:cNvPr descr="image.png" id="257" name="Google Shape;2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9557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95675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 txBox="1"/>
          <p:nvPr/>
        </p:nvSpPr>
        <p:spPr>
          <a:xfrm>
            <a:off x="1333500" y="3852862"/>
            <a:ext cx="5524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Traffic Volume Trends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1333500" y="4348162"/>
            <a:ext cx="552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Toll Violation Heatmaps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1333500" y="4843462"/>
            <a:ext cx="552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Congestion Scenario Planning</a:t>
            </a:r>
            <a:endParaRPr/>
          </a:p>
        </p:txBody>
      </p:sp>
      <p:pic>
        <p:nvPicPr>
          <p:cNvPr id="262" name="Google Shape;262;p23" title="Capstone Dashboar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0" y="2260203"/>
            <a:ext cx="5905500" cy="335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3" title="University_of_New_Haven_sea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54769" y="121306"/>
            <a:ext cx="716000" cy="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3" title="new-york-city-port-authority-of-new-york-and-new-jersey-police-department-transport-creative-agency-6cc3bd3489bc071e80ddbfbd74a45cf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89794" y="28550"/>
            <a:ext cx="1807605" cy="10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95698"/>
            <a:ext cx="3492549" cy="2847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495698"/>
            <a:ext cx="3492549" cy="2847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495698"/>
            <a:ext cx="3492549" cy="2847677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Industry Context &amp; Tech Diffusion</a:t>
            </a:r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571500" y="1228725"/>
            <a:ext cx="11049000" cy="381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857250" y="3486298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Ensemble Methods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857250" y="3838723"/>
            <a:ext cx="2921049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Single algorithms are being replaced by Ensemble Learning (Voting/Stacking) in logistics (e.g., Uber, FedEx) to handle noisy, non-linear traffic data.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4635549" y="3486298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AutoML Shift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4635549" y="3838723"/>
            <a:ext cx="2921049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industry is moving toward AutoML to democratize data science. Our workflow (Azure testing $\to$ Python production) mirrors modern enterprise standards.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8413849" y="3486298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Pricing Analytics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8413849" y="3838723"/>
            <a:ext cx="2921049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Classifying "Level of Service" (our Goal 4 model) is the standard DOT methodology for validating congestion pricing policies globally.</a:t>
            </a:r>
            <a:endParaRPr/>
          </a:p>
        </p:txBody>
      </p:sp>
      <p:pic>
        <p:nvPicPr>
          <p:cNvPr descr="image.png" id="280" name="Google Shape;28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895748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5549" y="2895748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3849" y="2895748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4" title="University_of_New_Haven_seal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254769" y="121306"/>
            <a:ext cx="716000" cy="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4" title="new-york-city-port-authority-of-new-york-and-new-jersey-police-department-transport-creative-agency-6cc3bd3489bc071e80ddbfbd74a45cfe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689794" y="28550"/>
            <a:ext cx="1807605" cy="10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17589"/>
            <a:ext cx="3492549" cy="2603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617589"/>
            <a:ext cx="3492549" cy="2603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617589"/>
            <a:ext cx="3492549" cy="260389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Strategic Recommendations</a:t>
            </a:r>
            <a:endParaRPr/>
          </a:p>
        </p:txBody>
      </p:sp>
      <p:sp>
        <p:nvSpPr>
          <p:cNvPr id="293" name="Google Shape;293;p25"/>
          <p:cNvSpPr/>
          <p:nvPr/>
        </p:nvSpPr>
        <p:spPr>
          <a:xfrm>
            <a:off x="571500" y="1228725"/>
            <a:ext cx="11049000" cy="381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 txBox="1"/>
          <p:nvPr/>
        </p:nvSpPr>
        <p:spPr>
          <a:xfrm>
            <a:off x="857250" y="3608189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Weather Integration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857250" y="3960614"/>
            <a:ext cx="2921049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Integrate predictive weather data into public dashboards. Warning drivers of "High Congestion" on rainy days can smooth demand curves.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4635549" y="3608189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Overnight Enforcement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4635549" y="3960614"/>
            <a:ext cx="29210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Shift enforcement resources to the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11 PM - 4 AM</a:t>
            </a: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window to target the specific "ghost car" violator profile.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8413849" y="3608189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Shoulder Capacity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8413849" y="3960614"/>
            <a:ext cx="2921049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Open toll lanes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30 minutes earlier</a:t>
            </a: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 Pricing has shifted traffic to "shoulder hours," requiring earlier staffing availability.</a:t>
            </a:r>
            <a:endParaRPr/>
          </a:p>
        </p:txBody>
      </p:sp>
      <p:pic>
        <p:nvPicPr>
          <p:cNvPr descr="image.png" id="300" name="Google Shape;30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3017639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5549" y="3017639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3849" y="3017639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5" title="University_of_New_Haven_seal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254769" y="121306"/>
            <a:ext cx="716000" cy="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5" title="new-york-city-port-authority-of-new-york-and-new-jersey-police-department-transport-creative-agency-6cc3bd3489bc071e80ddbfbd74a45cfe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689794" y="28550"/>
            <a:ext cx="1807605" cy="10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"/>
          <p:cNvSpPr txBox="1"/>
          <p:nvPr/>
        </p:nvSpPr>
        <p:spPr>
          <a:xfrm>
            <a:off x="3150631" y="1899344"/>
            <a:ext cx="5890736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/>
          </a:p>
        </p:txBody>
      </p:sp>
      <p:sp>
        <p:nvSpPr>
          <p:cNvPr id="310" name="Google Shape;310;p26"/>
          <p:cNvSpPr txBox="1"/>
          <p:nvPr/>
        </p:nvSpPr>
        <p:spPr>
          <a:xfrm>
            <a:off x="3290887" y="3366194"/>
            <a:ext cx="56102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Thank you for your attention.</a:t>
            </a:r>
            <a:endParaRPr/>
          </a:p>
        </p:txBody>
      </p:sp>
      <p:sp>
        <p:nvSpPr>
          <p:cNvPr id="311" name="Google Shape;311;p26"/>
          <p:cNvSpPr txBox="1"/>
          <p:nvPr/>
        </p:nvSpPr>
        <p:spPr>
          <a:xfrm>
            <a:off x="3290887" y="4330005"/>
            <a:ext cx="561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336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Fall 25 </a:t>
            </a:r>
            <a:r>
              <a:rPr b="0" i="0" lang="en-US" sz="1800" u="none" cap="none" strike="noStrike">
                <a:solidFill>
                  <a:srgbClr val="00336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Group 6 | University of New Haven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00336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en-US" sz="1800" u="none">
                <a:solidFill>
                  <a:srgbClr val="00336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vmish2@unh.</a:t>
            </a:r>
            <a:r>
              <a:rPr lang="en-US" sz="1800">
                <a:solidFill>
                  <a:srgbClr val="00336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newhaven.edu</a:t>
            </a:r>
            <a:endParaRPr sz="1800">
              <a:solidFill>
                <a:srgbClr val="003366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id="312" name="Google Shape;312;p26" title="University_of_New_Haven_se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54769" y="121306"/>
            <a:ext cx="716000" cy="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6" title="new-york-city-port-authority-of-new-york-and-new-jersey-police-department-transport-creative-agency-6cc3bd3489bc071e80ddbfbd74a45cf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89794" y="28550"/>
            <a:ext cx="1807605" cy="102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6" title="72851e65e87eef6f732c4360cec2b6d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6415009"/>
            <a:ext cx="1177324" cy="3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6" title="08d7d32e5eaa12072969ef1a3fd6b91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27422" y="6082519"/>
            <a:ext cx="1398549" cy="93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6" title="04a1e1f4d46601eaed93361118bd48e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23676" y="6483716"/>
            <a:ext cx="896625" cy="2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